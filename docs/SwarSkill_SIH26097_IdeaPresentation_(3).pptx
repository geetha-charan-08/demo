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file/d/1NyAbx1QT3VAjd3OfkZZYFxxbKxCxVogY/view?usp=sharing" TargetMode="External"/><Relationship Id="rId5" Type="http://schemas.openxmlformats.org/officeDocument/2006/relationships/hyperlink" Target="https://skilling-assistant.streamlit.app/" TargetMode="External"/><Relationship Id="rId6" Type="http://schemas.openxmlformats.org/officeDocument/2006/relationships/hyperlink" Target="https://drive.google.com/file/d/1Gf5ORLkUd4OSRfiMo54ZKIgZ8m_vXeiK/view?usp=shari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700" i="1">
                <a:solidFill>
                  <a:srgbClr val="028090"/>
                </a:solidFill>
                <a:latin typeface="Calibri"/>
              </a:rPr>
              <a:t>Prototype / Product Name: SwarSkill</a:t>
            </a:r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Problem Statement ID –  SIH26097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Problem Statement Title –  AI-Driven Voice Assistant for Livelihood Mapping and NSQF-Aligned Skilling Recommendations for SC Communities under GIA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Theme –  Smart Education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PS Category – 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Team ID –  [Enter Team ID]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50" b="1" dirty="0">
                <a:solidFill>
                  <a:srgbClr val="1E276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Team Name (Registered on portal) –  shaWOWrma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298448"/>
            <a:ext cx="6537960" cy="3246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buFont typeface="Wingdings" panose="05000000000000000000" pitchFamily="2" charset="2"/>
              <a:buChar char="v"/>
            </a:pPr>
            <a:r>
              <a:rPr lang="en-US" sz="1650" b="1" u="sng" dirty="0">
                <a:solidFill>
                  <a:srgbClr val="1E2761"/>
                </a:solidFill>
                <a:latin typeface="Calibri" pitchFamily="34" charset="0"/>
                <a:cs typeface="Arial" pitchFamily="34" charset="0"/>
              </a:rPr>
              <a:t>Omnichannel, RAG-Powered Voice Assistant — Zero Typing, Zero Search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60000"/>
              </a:lnSpc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01168" indent="-201168" algn="just">
              <a:lnSpc>
                <a:spcPct val="108000"/>
              </a:lnSpc>
              <a:spcAft>
                <a:spcPts val="1200"/>
              </a:spcAft>
              <a:buClr>
                <a:srgbClr val="028090"/>
              </a:buClr>
              <a:buFont typeface="Arial"/>
              <a:buChar char="•"/>
            </a:pPr>
            <a:r>
              <a:rPr b="1" sz="1300">
                <a:solidFill>
                  <a:srgbClr val="1E2761"/>
                </a:solidFill>
                <a:latin typeface="Calibri"/>
              </a:rPr>
              <a:t>Zero-UI shift: </a:t>
            </a:r>
            <a:r>
              <a:rPr b="0" sz="1300">
                <a:solidFill>
                  <a:srgbClr val="22262A"/>
                </a:solidFill>
                <a:latin typeface="Calibri"/>
              </a:rPr>
              <a:t>Replaces static, text/search-based portals (Skill India Digital, NCS) with a fully spoken, conversational interface — no typing, no menus, no literacy prerequisite.</a:t>
            </a:r>
          </a:p>
          <a:p>
            <a:pPr marL="201168" indent="-201168" algn="just">
              <a:lnSpc>
                <a:spcPct val="108000"/>
              </a:lnSpc>
              <a:spcAft>
                <a:spcPts val="1200"/>
              </a:spcAft>
              <a:buClr>
                <a:srgbClr val="028090"/>
              </a:buClr>
              <a:buFont typeface="Arial"/>
              <a:buChar char="•"/>
            </a:pPr>
            <a:r>
              <a:rPr b="1" sz="1300">
                <a:solidFill>
                  <a:srgbClr val="1E2761"/>
                </a:solidFill>
                <a:latin typeface="Calibri"/>
              </a:rPr>
              <a:t>Core mechanism: </a:t>
            </a:r>
            <a:r>
              <a:rPr b="0" sz="1300">
                <a:solidFill>
                  <a:srgbClr val="22262A"/>
                </a:solidFill>
                <a:latin typeface="Calibri"/>
              </a:rPr>
              <a:t>User narrates informal daily labour in their native tongue; a RAG pipeline retrieves matching entries from a Vector DB of official NQR courses and local GIA centres, and the LLM speaks back the mapped recommendation.</a:t>
            </a:r>
          </a:p>
          <a:p>
            <a:pPr marL="201168" indent="-201168" algn="just">
              <a:lnSpc>
                <a:spcPct val="108000"/>
              </a:lnSpc>
              <a:spcAft>
                <a:spcPts val="1200"/>
              </a:spcAft>
              <a:buClr>
                <a:srgbClr val="028090"/>
              </a:buClr>
              <a:buFont typeface="Arial"/>
              <a:buChar char="•"/>
            </a:pPr>
            <a:r>
              <a:rPr b="1" sz="1300">
                <a:solidFill>
                  <a:srgbClr val="1E2761"/>
                </a:solidFill>
                <a:latin typeface="Calibri"/>
              </a:rPr>
              <a:t>Why it's defensible: </a:t>
            </a:r>
            <a:r>
              <a:rPr b="0" sz="1300">
                <a:solidFill>
                  <a:srgbClr val="22262A"/>
                </a:solidFill>
                <a:latin typeface="Calibri"/>
              </a:rPr>
              <a:t>Hallucination-proofed by construction — output is restricted to retrieved, verified NQR records, not open-domain generation.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 b="1"/>
              <a:t>shaWOWrma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7269480" y="1298448"/>
            <a:ext cx="44348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7269480" y="1298448"/>
            <a:ext cx="4434840" cy="3291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0" sz="1000">
                <a:solidFill>
                  <a:srgbClr val="FFFFFF"/>
                </a:solidFill>
                <a:latin typeface="Calibri"/>
              </a:rPr>
              <a:t>swarskill.app</a:t>
            </a:r>
          </a:p>
        </p:txBody>
      </p:sp>
      <p:sp>
        <p:nvSpPr>
          <p:cNvPr id="15365" name="Oval 15364"/>
          <p:cNvSpPr/>
          <p:nvPr/>
        </p:nvSpPr>
        <p:spPr>
          <a:xfrm>
            <a:off x="7397496" y="1408176"/>
            <a:ext cx="109728" cy="109728"/>
          </a:xfrm>
          <a:prstGeom prst="ellipse">
            <a:avLst/>
          </a:prstGeom>
          <a:solidFill>
            <a:srgbClr val="E88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6" name="Oval 15365"/>
          <p:cNvSpPr/>
          <p:nvPr/>
        </p:nvSpPr>
        <p:spPr>
          <a:xfrm>
            <a:off x="7598664" y="1408176"/>
            <a:ext cx="109728" cy="109728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7" name="Oval 15366"/>
          <p:cNvSpPr/>
          <p:nvPr/>
        </p:nvSpPr>
        <p:spPr>
          <a:xfrm>
            <a:off x="7799832" y="1408176"/>
            <a:ext cx="109728" cy="10972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8" name="Oval 15367"/>
          <p:cNvSpPr/>
          <p:nvPr/>
        </p:nvSpPr>
        <p:spPr>
          <a:xfrm>
            <a:off x="9029700" y="1865376"/>
            <a:ext cx="914400" cy="9144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1" sz="1300">
                <a:solidFill>
                  <a:srgbClr val="FFFFFF"/>
                </a:solidFill>
                <a:latin typeface="Calibri"/>
              </a:rPr>
              <a:t>🎤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828532" y="3182112"/>
            <a:ext cx="100584" cy="10972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9002268" y="3090672"/>
            <a:ext cx="100584" cy="20116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9176004" y="2971800"/>
            <a:ext cx="100584" cy="3200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9349740" y="3090672"/>
            <a:ext cx="100584" cy="20116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9523476" y="3017520"/>
            <a:ext cx="100584" cy="274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9697212" y="3145536"/>
            <a:ext cx="100584" cy="14630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9870948" y="3054096"/>
            <a:ext cx="100584" cy="23774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10044684" y="3182112"/>
            <a:ext cx="100584" cy="10972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7589520" y="3419856"/>
            <a:ext cx="3794760" cy="457200"/>
          </a:xfrm>
          <a:prstGeom prst="roundRect">
            <a:avLst>
              <a:gd name="adj" fmla="val 30000"/>
            </a:avLst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0" sz="1050" i="1">
                <a:solidFill>
                  <a:srgbClr val="22262A"/>
                </a:solidFill>
                <a:latin typeface="Calibri"/>
              </a:rPr>
              <a:t>“Main cement mix karta hoon, construction site pe...”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7589520" y="3995928"/>
            <a:ext cx="3794760" cy="457200"/>
          </a:xfrm>
          <a:prstGeom prst="roundRect">
            <a:avLst>
              <a:gd name="adj" fmla="val 3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1" sz="1000">
                <a:solidFill>
                  <a:srgbClr val="FFFFFF"/>
                </a:solidFill>
                <a:latin typeface="Calibri"/>
              </a:rPr>
              <a:t>✔  NSQF Level 2 — Assistant Mason  |  Nearest GIA Centre: 4.2 km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269480" y="4617720"/>
            <a:ext cx="44348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0" sz="1000" i="1">
                <a:solidFill>
                  <a:srgbClr val="5B636B"/>
                </a:solidFill>
                <a:latin typeface="Calibri"/>
              </a:rPr>
              <a:t>Illustrative UI — voice-first flow, current Streamlit MVP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502920" y="5074920"/>
            <a:ext cx="323088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b="1" sz="1150">
                <a:solidFill>
                  <a:srgbClr val="FFFFFF"/>
                </a:solidFill>
                <a:latin typeface="Calibri"/>
                <a:hlinkClick r:id="rId4"/>
              </a:rPr>
              <a:t>▶  WATCH VIDEO DEMO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3962400" y="5074920"/>
            <a:ext cx="323088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b="1" sz="1150">
                <a:solidFill>
                  <a:srgbClr val="FFFFFF"/>
                </a:solidFill>
                <a:latin typeface="Calibri"/>
                <a:hlinkClick r:id="rId5"/>
              </a:rPr>
              <a:t>🔗  LIVE PROTOTYPE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7421880" y="5074920"/>
            <a:ext cx="3230880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b="1" sz="1150">
                <a:solidFill>
                  <a:srgbClr val="FFFFFF"/>
                </a:solidFill>
                <a:latin typeface="Calibri"/>
                <a:hlinkClick r:id="rId6"/>
              </a:rPr>
              <a:t>📄  DETAILED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 b="1"/>
              <a:t>shaWOWrma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Chevron 17409"/>
          <p:cNvSpPr/>
          <p:nvPr/>
        </p:nvSpPr>
        <p:spPr>
          <a:xfrm>
            <a:off x="502920" y="1298448"/>
            <a:ext cx="2441448" cy="1298448"/>
          </a:xfrm>
          <a:prstGeom prst="chevron">
            <a:avLst>
              <a:gd name="adj" fmla="val 28000"/>
            </a:avLst>
          </a:prstGeom>
          <a:solidFill>
            <a:srgbClr val="1218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92608"/>
          <a:lstStyle/>
          <a:p>
            <a:pPr algn="ctr">
              <a:buNone/>
            </a:pPr>
            <a:r>
              <a:rPr b="1" sz="1250">
                <a:solidFill>
                  <a:srgbClr val="FFFFFF"/>
                </a:solidFill>
                <a:latin typeface="Calibri"/>
              </a:rPr>
              <a:t>1. VOICE INPUT</a:t>
            </a:r>
          </a:p>
          <a:p>
            <a:pPr algn="ctr">
              <a:lnSpc>
                <a:spcPct val="100000"/>
              </a:lnSpc>
              <a:buNone/>
            </a:pPr>
            <a:r>
              <a:rPr b="0" sz="900">
                <a:solidFill>
                  <a:srgbClr val="FFFFFF"/>
                </a:solidFill>
                <a:latin typeface="Calibri"/>
              </a:rPr>
              <a:t>User speaks in native
language — mic tap</a:t>
            </a:r>
          </a:p>
        </p:txBody>
      </p:sp>
      <p:sp>
        <p:nvSpPr>
          <p:cNvPr id="17411" name="Chevron 17410"/>
          <p:cNvSpPr/>
          <p:nvPr/>
        </p:nvSpPr>
        <p:spPr>
          <a:xfrm>
            <a:off x="2688336" y="1298448"/>
            <a:ext cx="2441448" cy="1298448"/>
          </a:xfrm>
          <a:prstGeom prst="chevron">
            <a:avLst>
              <a:gd name="adj" fmla="val 28000"/>
            </a:avLst>
          </a:prstGeom>
          <a:solidFill>
            <a:srgbClr val="1E276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92608"/>
          <a:lstStyle/>
          <a:p>
            <a:pPr algn="ctr">
              <a:buNone/>
            </a:pPr>
            <a:r>
              <a:rPr b="1" sz="1250">
                <a:solidFill>
                  <a:srgbClr val="FFFFFF"/>
                </a:solidFill>
                <a:latin typeface="Calibri"/>
              </a:rPr>
              <a:t>2. SPEECH-TO-TEXT</a:t>
            </a:r>
          </a:p>
          <a:p>
            <a:pPr algn="ctr">
              <a:lnSpc>
                <a:spcPct val="100000"/>
              </a:lnSpc>
              <a:buNone/>
            </a:pPr>
            <a:r>
              <a:rPr b="0" sz="900">
                <a:solidFill>
                  <a:srgbClr val="FFFFFF"/>
                </a:solidFill>
                <a:latin typeface="Calibri"/>
              </a:rPr>
              <a:t>Web Speech API (MVP)
Bhashini STT (prod.)</a:t>
            </a:r>
          </a:p>
        </p:txBody>
      </p:sp>
      <p:sp>
        <p:nvSpPr>
          <p:cNvPr id="17412" name="Chevron 17411"/>
          <p:cNvSpPr/>
          <p:nvPr/>
        </p:nvSpPr>
        <p:spPr>
          <a:xfrm>
            <a:off x="4873752" y="1298448"/>
            <a:ext cx="2441448" cy="1298448"/>
          </a:xfrm>
          <a:prstGeom prst="chevron">
            <a:avLst>
              <a:gd name="adj" fmla="val 28000"/>
            </a:avLst>
          </a:prstGeom>
          <a:solidFill>
            <a:srgbClr val="02809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92608"/>
          <a:lstStyle/>
          <a:p>
            <a:pPr algn="ctr">
              <a:buNone/>
            </a:pPr>
            <a:r>
              <a:rPr b="1" sz="1250">
                <a:solidFill>
                  <a:srgbClr val="FFFFFF"/>
                </a:solidFill>
                <a:latin typeface="Calibri"/>
              </a:rPr>
              <a:t>3. VECTOR DB / RAG</a:t>
            </a:r>
          </a:p>
          <a:p>
            <a:pPr algn="ctr">
              <a:lnSpc>
                <a:spcPct val="100000"/>
              </a:lnSpc>
              <a:buNone/>
            </a:pPr>
            <a:r>
              <a:rPr b="0" sz="900">
                <a:solidFill>
                  <a:srgbClr val="FFFFFF"/>
                </a:solidFill>
                <a:latin typeface="Calibri"/>
              </a:rPr>
              <a:t>Query embedded &amp;
matched vs. NQR + GIA index</a:t>
            </a:r>
          </a:p>
        </p:txBody>
      </p:sp>
      <p:sp>
        <p:nvSpPr>
          <p:cNvPr id="17413" name="Chevron 17412"/>
          <p:cNvSpPr/>
          <p:nvPr/>
        </p:nvSpPr>
        <p:spPr>
          <a:xfrm>
            <a:off x="7059168" y="1298448"/>
            <a:ext cx="2441448" cy="1298448"/>
          </a:xfrm>
          <a:prstGeom prst="chevron">
            <a:avLst>
              <a:gd name="adj" fmla="val 28000"/>
            </a:avLst>
          </a:prstGeom>
          <a:solidFill>
            <a:srgbClr val="00A89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92608"/>
          <a:lstStyle/>
          <a:p>
            <a:pPr algn="ctr">
              <a:buNone/>
            </a:pPr>
            <a:r>
              <a:rPr b="1" sz="1250">
                <a:solidFill>
                  <a:srgbClr val="FFFFFF"/>
                </a:solidFill>
                <a:latin typeface="Calibri"/>
              </a:rPr>
              <a:t>4. LLM REASONING</a:t>
            </a:r>
          </a:p>
          <a:p>
            <a:pPr algn="ctr">
              <a:lnSpc>
                <a:spcPct val="100000"/>
              </a:lnSpc>
              <a:buNone/>
            </a:pPr>
            <a:r>
              <a:rPr b="0" sz="900">
                <a:solidFill>
                  <a:srgbClr val="FFFFFF"/>
                </a:solidFill>
                <a:latin typeface="Calibri"/>
              </a:rPr>
              <a:t>Gemini 3.6 Flash ranks
&amp; maps to NSQF level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9244584" y="1298448"/>
            <a:ext cx="2441448" cy="1298448"/>
          </a:xfrm>
          <a:prstGeom prst="chevron">
            <a:avLst>
              <a:gd name="adj" fmla="val 28000"/>
            </a:avLst>
          </a:prstGeom>
          <a:solidFill>
            <a:srgbClr val="02C39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92608"/>
          <a:lstStyle/>
          <a:p>
            <a:pPr algn="ctr">
              <a:buNone/>
            </a:pPr>
            <a:r>
              <a:rPr b="1" sz="1250">
                <a:solidFill>
                  <a:srgbClr val="FFFFFF"/>
                </a:solidFill>
                <a:latin typeface="Calibri"/>
              </a:rPr>
              <a:t>5. VOICE OUTPUT</a:t>
            </a:r>
          </a:p>
          <a:p>
            <a:pPr algn="ctr">
              <a:lnSpc>
                <a:spcPct val="100000"/>
              </a:lnSpc>
              <a:buNone/>
            </a:pPr>
            <a:r>
              <a:rPr b="0" sz="900">
                <a:solidFill>
                  <a:srgbClr val="FFFFFF"/>
                </a:solidFill>
                <a:latin typeface="Calibri"/>
              </a:rPr>
              <a:t>Recommendation
spoken back (TTS)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2880360"/>
            <a:ext cx="5349240" cy="3246120"/>
          </a:xfrm>
          <a:prstGeom prst="roundRect">
            <a:avLst>
              <a:gd name="adj" fmla="val 4500"/>
            </a:avLst>
          </a:prstGeom>
          <a:solidFill>
            <a:srgbClr val="F2F7F7"/>
          </a:solidFill>
          <a:ln w="12700">
            <a:solidFill>
              <a:srgbClr val="DC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502920" y="2880360"/>
            <a:ext cx="534924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1" sz="1450">
                <a:solidFill>
                  <a:srgbClr val="FFFFFF"/>
                </a:solidFill>
                <a:latin typeface="Calibri"/>
              </a:rPr>
              <a:t>CURRENT OPERATIONAL MVP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58952" y="3566160"/>
            <a:ext cx="4837176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1E2761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Python 3.11 backend logic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1E2761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Streamlit web front-end (current MVP UI)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1E2761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Google Gemini 3.6 Flash — reasoning &amp; mapping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1E2761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Native browser Web Speech API — STT + TTS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1E2761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In-memory vector index (FAISS/Chroma) over pre-processed NQR JSON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309360" y="2880360"/>
            <a:ext cx="5349240" cy="3246120"/>
          </a:xfrm>
          <a:prstGeom prst="roundRect">
            <a:avLst>
              <a:gd name="adj" fmla="val 4500"/>
            </a:avLst>
          </a:prstGeom>
          <a:solidFill>
            <a:srgbClr val="F2F7F7"/>
          </a:solidFill>
          <a:ln w="12700">
            <a:solidFill>
              <a:srgbClr val="DC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6309360" y="2880360"/>
            <a:ext cx="534924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1" sz="1450">
                <a:solidFill>
                  <a:srgbClr val="FFFFFF"/>
                </a:solidFill>
                <a:latin typeface="Calibri"/>
              </a:rPr>
              <a:t>PRODUCTION ROADMAP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565392" y="3566160"/>
            <a:ext cx="4837176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028090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Headless Python/RAG microservice (API-first)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028090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WhatsApp Cloud API webhook integration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028090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Telecom IVR routing — Twilio / Exotel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028090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Bhashini STT + TTS — 22 scheduled languages</a:t>
            </a:r>
          </a:p>
          <a:p>
            <a:pPr marL="201168" indent="-201168">
              <a:lnSpc>
                <a:spcPct val="105000"/>
              </a:lnSpc>
              <a:spcAft>
                <a:spcPts val="900"/>
              </a:spcAft>
              <a:buClr>
                <a:srgbClr val="028090"/>
              </a:buClr>
              <a:buFont typeface="Arial"/>
              <a:buChar char="•"/>
            </a:pPr>
            <a:r>
              <a:rPr b="0" sz="1250">
                <a:solidFill>
                  <a:srgbClr val="22262A"/>
                </a:solidFill>
                <a:latin typeface="Calibri"/>
              </a:rPr>
              <a:t>Managed vector DB + automated NQR/GIA ETL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 b="1"/>
              <a:t>shaWOWrma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b="0" sz="1350" i="1">
                <a:solidFill>
                  <a:srgbClr val="5B636B"/>
                </a:solidFill>
                <a:latin typeface="Calibri"/>
              </a:rPr>
              <a:t>Validated across technical, operational, and financial feasibility — every deployment friction point below has a scoped, testable mitigation.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502920" y="1874519"/>
          <a:ext cx="11155680" cy="4160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60350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L="137160" marR="137160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IMPLEMENTED SOLUTION</a:t>
                      </a:r>
                    </a:p>
                  </a:txBody>
                  <a:tcPr marL="137160" marR="137160" marT="54864" marB="54864" anchor="ctr"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150">
                          <a:solidFill>
                            <a:srgbClr val="1E2761"/>
                          </a:solidFill>
                          <a:latin typeface="Calibri"/>
                        </a:rPr>
                        <a:t>Dialect &amp; accent variance across SC-community vernaculars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0" sz="1150">
                          <a:solidFill>
                            <a:srgbClr val="22262A"/>
                          </a:solidFill>
                          <a:latin typeface="Calibri"/>
                        </a:rPr>
                        <a:t>Bhashini ASR (22 scheduled languages) with dialect packs; low-confidence transcripts trigger a re-prompt instead of a silent misread.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150">
                          <a:solidFill>
                            <a:srgbClr val="1E2761"/>
                          </a:solidFill>
                          <a:latin typeface="Calibri"/>
                        </a:rPr>
                        <a:t>Unstructured NQR / MoSJE PDFs — no clean data API</a:t>
                      </a:r>
                    </a:p>
                  </a:txBody>
                  <a:tcPr marL="137160" marR="137160" marT="73152" marB="73152" anchor="ctr">
                    <a:solidFill>
                      <a:srgbClr val="F2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0" sz="1150">
                          <a:solidFill>
                            <a:srgbClr val="22262A"/>
                          </a:solidFill>
                          <a:latin typeface="Calibri"/>
                        </a:rPr>
                        <a:t>Automated ETL pipeline: PDF → OCR/parse → structured JSON → chunked &amp; embedded nightly into the vector index.</a:t>
                      </a:r>
                    </a:p>
                  </a:txBody>
                  <a:tcPr marL="137160" marR="137160" marT="73152" marB="73152" anchor="ctr">
                    <a:solidFill>
                      <a:srgbClr val="F2F7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150">
                          <a:solidFill>
                            <a:srgbClr val="1E2761"/>
                          </a:solidFill>
                          <a:latin typeface="Calibri"/>
                        </a:rPr>
                        <a:t>LLM hallucination — inventing non-existent courses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0" sz="1150">
                          <a:solidFill>
                            <a:srgbClr val="22262A"/>
                          </a:solidFill>
                          <a:latin typeface="Calibri"/>
                        </a:rPr>
                        <a:t>Strict RAG boundary enforced at the prompt layer: the LLM only ranks and paraphrases retrieved NQR-verified chunks, never generates open-domain content.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150">
                          <a:solidFill>
                            <a:srgbClr val="1E2761"/>
                          </a:solidFill>
                          <a:latin typeface="Calibri"/>
                        </a:rPr>
                        <a:t>Low-bandwidth / feature-phone access in rural hamlets</a:t>
                      </a:r>
                    </a:p>
                  </a:txBody>
                  <a:tcPr marL="137160" marR="137160" marT="73152" marB="73152" anchor="ctr">
                    <a:solidFill>
                      <a:srgbClr val="F2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0" sz="1150">
                          <a:solidFill>
                            <a:srgbClr val="22262A"/>
                          </a:solidFill>
                          <a:latin typeface="Calibri"/>
                        </a:rPr>
                        <a:t>Omnichannel fallback via Telecom IVR (Twilio/Exotel) — works on any 2G handset, no data connection, no app install.</a:t>
                      </a:r>
                    </a:p>
                  </a:txBody>
                  <a:tcPr marL="137160" marR="137160" marT="73152" marB="73152" anchor="ctr">
                    <a:solidFill>
                      <a:srgbClr val="F2F7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1" sz="1150">
                          <a:solidFill>
                            <a:srgbClr val="1E2761"/>
                          </a:solidFill>
                          <a:latin typeface="Calibri"/>
                        </a:rPr>
                        <a:t>Zero-skill or ambiguous user narration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b="0" sz="1150">
                          <a:solidFill>
                            <a:srgbClr val="22262A"/>
                          </a:solidFill>
                          <a:latin typeface="Calibri"/>
                        </a:rPr>
                        <a:t>Fallback logic routes the user to foundational NSQF Level 1 orientation courses instead of returning no result.</a:t>
                      </a:r>
                    </a:p>
                  </a:txBody>
                  <a:tcPr marL="137160" marR="137160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 b="1"/>
              <a:t>shaWOWrma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234440"/>
            <a:ext cx="11155680" cy="685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b="1" sz="1350">
                <a:solidFill>
                  <a:srgbClr val="1E2761"/>
                </a:solidFill>
                <a:latin typeface="Calibri"/>
              </a:rPr>
              <a:t>Positioned as a Digital Public Infrastructure (DPI) layer — </a:t>
            </a:r>
            <a:r>
              <a:rPr b="0" sz="1350" i="1">
                <a:solidFill>
                  <a:srgbClr val="5B636B"/>
                </a:solidFill>
                <a:latin typeface="Calibri"/>
              </a:rPr>
              <a:t>API-first, interoperable with Skill India Digital and the National Career Service (NCS), and free at point of use.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2148840"/>
            <a:ext cx="3566160" cy="3886200"/>
          </a:xfrm>
          <a:prstGeom prst="roundRect">
            <a:avLst>
              <a:gd name="adj" fmla="val 5000"/>
            </a:avLst>
          </a:prstGeom>
          <a:solidFill>
            <a:srgbClr val="F2F7F7"/>
          </a:solidFill>
          <a:ln w="12700">
            <a:solidFill>
              <a:srgbClr val="DC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1897380" y="2404872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1" sz="130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3319272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sz="1400">
                <a:solidFill>
                  <a:srgbClr val="1E2761"/>
                </a:solidFill>
                <a:latin typeface="Calibri"/>
              </a:rPr>
              <a:t>SOCIAL EQUITY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58952" y="3840480"/>
            <a:ext cx="305409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0000"/>
              </a:lnSpc>
              <a:spcAft>
                <a:spcPts val="1000"/>
              </a:spcAft>
              <a:buClr>
                <a:srgbClr val="1E2761"/>
              </a:buClr>
              <a:buFont typeface="Arial"/>
              <a:buChar char="•"/>
            </a:pPr>
            <a:r>
              <a:rPr b="0" sz="1150">
                <a:solidFill>
                  <a:srgbClr val="22262A"/>
                </a:solidFill>
                <a:latin typeface="Calibri"/>
              </a:rPr>
              <a:t>Removes literacy and language as gatekeepers to a constitutional welfare entitlement.</a:t>
            </a:r>
          </a:p>
          <a:p>
            <a:pPr marL="201168" indent="-201168">
              <a:lnSpc>
                <a:spcPct val="110000"/>
              </a:lnSpc>
              <a:spcAft>
                <a:spcPts val="1000"/>
              </a:spcAft>
              <a:buClr>
                <a:srgbClr val="1E2761"/>
              </a:buClr>
              <a:buFont typeface="Arial"/>
              <a:buChar char="•"/>
            </a:pPr>
            <a:r>
              <a:rPr b="0" sz="1150">
                <a:solidFill>
                  <a:srgbClr val="22262A"/>
                </a:solidFill>
                <a:latin typeface="Calibri"/>
              </a:rPr>
              <a:t>Brings India's ~2-crore-strong SC informal workforce within reach of GIA upskilling for the first time.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97680" y="2148840"/>
            <a:ext cx="3566160" cy="3886200"/>
          </a:xfrm>
          <a:prstGeom prst="roundRect">
            <a:avLst>
              <a:gd name="adj" fmla="val 5000"/>
            </a:avLst>
          </a:prstGeom>
          <a:solidFill>
            <a:srgbClr val="F2F7F7"/>
          </a:solidFill>
          <a:ln w="12700">
            <a:solidFill>
              <a:srgbClr val="DC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Oval 17415"/>
          <p:cNvSpPr/>
          <p:nvPr/>
        </p:nvSpPr>
        <p:spPr>
          <a:xfrm>
            <a:off x="5692140" y="2404872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1" sz="1300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34840" y="3319272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sz="1400">
                <a:solidFill>
                  <a:srgbClr val="028090"/>
                </a:solidFill>
                <a:latin typeface="Calibri"/>
              </a:rPr>
              <a:t>ECONOMIC UPLIFTMENT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53712" y="3840480"/>
            <a:ext cx="305409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•"/>
            </a:pPr>
            <a:r>
              <a:rPr b="0" sz="1150">
                <a:solidFill>
                  <a:srgbClr val="22262A"/>
                </a:solidFill>
                <a:latin typeface="Calibri"/>
              </a:rPr>
              <a:t>Converts informal labour (e.g. “I mix cement”) into NSQF-certified trades recognised by employers.</a:t>
            </a:r>
          </a:p>
          <a:p>
            <a:pPr marL="201168" indent="-201168">
              <a:lnSpc>
                <a:spcPct val="110000"/>
              </a:lnSpc>
              <a:spcAft>
                <a:spcPts val="1000"/>
              </a:spcAft>
              <a:buClr>
                <a:srgbClr val="028090"/>
              </a:buClr>
              <a:buFont typeface="Arial"/>
              <a:buChar char="•"/>
            </a:pPr>
            <a:r>
              <a:rPr b="0" sz="1150">
                <a:solidFill>
                  <a:srgbClr val="22262A"/>
                </a:solidFill>
                <a:latin typeface="Calibri"/>
              </a:rPr>
              <a:t>Certification unlocks formal-wage eligibility, credit access, and insurance tied to registered skill status.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092440" y="2148840"/>
            <a:ext cx="3566160" cy="3886200"/>
          </a:xfrm>
          <a:prstGeom prst="roundRect">
            <a:avLst>
              <a:gd name="adj" fmla="val 5000"/>
            </a:avLst>
          </a:prstGeom>
          <a:solidFill>
            <a:srgbClr val="F2F7F7"/>
          </a:solidFill>
          <a:ln w="12700">
            <a:solidFill>
              <a:srgbClr val="DC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Oval 17419"/>
          <p:cNvSpPr/>
          <p:nvPr/>
        </p:nvSpPr>
        <p:spPr>
          <a:xfrm>
            <a:off x="9486900" y="2404872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ctr">
              <a:lnSpc>
                <a:spcPct val="100000"/>
              </a:lnSpc>
              <a:buNone/>
            </a:pPr>
            <a:r>
              <a:rPr b="1" sz="130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29600" y="3319272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b="1" sz="1400">
                <a:solidFill>
                  <a:srgbClr val="00A896"/>
                </a:solidFill>
                <a:latin typeface="Calibri"/>
              </a:rPr>
              <a:t>SYSTEM OPTIMIZATION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348472" y="3840480"/>
            <a:ext cx="305409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0000"/>
              </a:lnSpc>
              <a:spcAft>
                <a:spcPts val="1000"/>
              </a:spcAft>
              <a:buClr>
                <a:srgbClr val="00A896"/>
              </a:buClr>
              <a:buFont typeface="Arial"/>
              <a:buChar char="•"/>
            </a:pPr>
            <a:r>
              <a:rPr b="0" sz="1150">
                <a:solidFill>
                  <a:srgbClr val="22262A"/>
                </a:solidFill>
                <a:latin typeface="Calibri"/>
              </a:rPr>
              <a:t>Structured, auditable skill-to-course mapping curbs GIA fund leakage from guesswork enrolment.</a:t>
            </a:r>
          </a:p>
          <a:p>
            <a:pPr marL="201168" indent="-201168">
              <a:lnSpc>
                <a:spcPct val="110000"/>
              </a:lnSpc>
              <a:spcAft>
                <a:spcPts val="1000"/>
              </a:spcAft>
              <a:buClr>
                <a:srgbClr val="00A896"/>
              </a:buClr>
              <a:buFont typeface="Arial"/>
              <a:buChar char="•"/>
            </a:pPr>
            <a:r>
              <a:rPr b="0" sz="1150">
                <a:solidFill>
                  <a:srgbClr val="22262A"/>
                </a:solidFill>
                <a:latin typeface="Calibri"/>
              </a:rPr>
              <a:t>Real-time usage data lets MoSJE monitor scheme penetration ward-by-ward.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41732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6032" marR="0" lvl="0" indent="-256032" algn="just" defTabSz="4572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ts val="1600"/>
              </a:spcAft>
              <a:buClrTx/>
              <a:buSzTx/>
              <a:tabLst/>
              <a:defRPr/>
              <a:buClr>
                <a:srgbClr val="028090"/>
              </a:buClr>
              <a:buFont typeface="Arial"/>
              <a:buChar char="•"/>
            </a:pPr>
            <a:r>
              <a:rPr b="1" sz="1450">
                <a:solidFill>
                  <a:srgbClr val="1E2761"/>
                </a:solidFill>
                <a:latin typeface="Calibri"/>
              </a:rPr>
              <a:t>National Qualifications Register (NQR). </a:t>
            </a:r>
            <a:r>
              <a:rPr b="0" sz="1300">
                <a:solidFill>
                  <a:srgbClr val="22262A"/>
                </a:solidFill>
                <a:latin typeface="Calibri"/>
              </a:rPr>
              <a:t>Ministry of Skill Development &amp; Entrepreneurship — nqr.gov.in — authoritative source for NSQF course codes and skill levels used as the RAG knowledge base.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28090"/>
              </a:buClr>
              <a:buFont typeface="Arial"/>
              <a:buChar char="•"/>
            </a:pPr>
            <a:r>
              <a:rPr b="1" sz="1450">
                <a:solidFill>
                  <a:srgbClr val="1E2761"/>
                </a:solidFill>
                <a:latin typeface="Calibri"/>
              </a:rPr>
              <a:t>MoSJE Grant-in-Aid (GIA) Scheme Guidelines. </a:t>
            </a:r>
            <a:r>
              <a:rPr b="0" sz="1300">
                <a:solidFill>
                  <a:srgbClr val="22262A"/>
                </a:solidFill>
                <a:latin typeface="Calibri"/>
              </a:rPr>
              <a:t>Ministry of Social Justice &amp; Empowerment — governing framework for SC-community welfare and skilling institutions targeted by this solution.</a:t>
            </a:r>
          </a:p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28090"/>
              </a:buClr>
              <a:buFont typeface="Arial"/>
              <a:buChar char="•"/>
            </a:pPr>
            <a:r>
              <a:rPr b="1" sz="1450">
                <a:solidFill>
                  <a:srgbClr val="1E2761"/>
                </a:solidFill>
                <a:latin typeface="Calibri"/>
              </a:rPr>
              <a:t>Lewis, P. et al. (2020). </a:t>
            </a:r>
            <a:r>
              <a:rPr b="0" sz="1300">
                <a:solidFill>
                  <a:srgbClr val="22262A"/>
                </a:solidFill>
                <a:latin typeface="Calibri"/>
              </a:rPr>
              <a:t>“Retrieval-Augmented Generation for Knowledge-Intensive NLP Tasks,” NeurIPS 2020 — foundational RAG architecture underlying the SwarSkill engine.</a:t>
            </a:r>
          </a:p>
          <a:p>
            <a:pPr marL="256032" indent="-256032">
              <a:lnSpc>
                <a:spcPct val="115000"/>
              </a:lnSpc>
              <a:spcAft>
                <a:spcPts val="1600"/>
              </a:spcAft>
              <a:buClr>
                <a:srgbClr val="028090"/>
              </a:buClr>
              <a:buFont typeface="Arial"/>
              <a:buChar char="•"/>
            </a:pPr>
            <a:r>
              <a:rPr b="1" sz="1450">
                <a:solidFill>
                  <a:srgbClr val="1E2761"/>
                </a:solidFill>
                <a:latin typeface="Calibri"/>
              </a:rPr>
              <a:t>Bhashini — National Language Translation Mission. </a:t>
            </a:r>
            <a:r>
              <a:rPr b="0" sz="1300">
                <a:solidFill>
                  <a:srgbClr val="22262A"/>
                </a:solidFill>
                <a:latin typeface="Calibri"/>
              </a:rPr>
              <a:t>Ministry of Electronics &amp; Information Technology (MeitY) — vernacular Speech-to-Text / Text-to-Speech APIs planned for production integration.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sz="1300" b="1"/>
              <a:t>shaWOWrma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